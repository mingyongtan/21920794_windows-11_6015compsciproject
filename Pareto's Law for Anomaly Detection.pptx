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78" r:id="rId5"/>
    <p:sldId id="273" r:id="rId6"/>
    <p:sldId id="275" r:id="rId7"/>
    <p:sldId id="260" r:id="rId8"/>
    <p:sldId id="279" r:id="rId9"/>
    <p:sldId id="282" r:id="rId10"/>
    <p:sldId id="262" r:id="rId11"/>
    <p:sldId id="286" r:id="rId12"/>
    <p:sldId id="283" r:id="rId13"/>
    <p:sldId id="263" r:id="rId14"/>
    <p:sldId id="264" r:id="rId15"/>
    <p:sldId id="281" r:id="rId16"/>
    <p:sldId id="287" r:id="rId17"/>
    <p:sldId id="284" r:id="rId18"/>
    <p:sldId id="285" r:id="rId19"/>
    <p:sldId id="265" r:id="rId20"/>
    <p:sldId id="288" r:id="rId21"/>
    <p:sldId id="289" r:id="rId22"/>
    <p:sldId id="266" r:id="rId23"/>
    <p:sldId id="280" r:id="rId24"/>
    <p:sldId id="267" r:id="rId25"/>
    <p:sldId id="268" r:id="rId26"/>
  </p:sldIdLst>
  <p:sldSz cx="12192000" cy="6858000"/>
  <p:notesSz cx="6858000" cy="9144000"/>
  <p:embeddedFontLst>
    <p:embeddedFont>
      <p:font typeface="DM Sans" pitchFamily="2" charset="0"/>
      <p:regular r:id="rId28"/>
      <p:bold r:id="rId29"/>
      <p:italic r:id="rId30"/>
      <p:boldItalic r:id="rId31"/>
    </p:embeddedFont>
    <p:embeddedFont>
      <p:font typeface="Merriweather" panose="00000500000000000000" pitchFamily="2" charset="0"/>
      <p:regular r:id="rId32"/>
      <p:bold r:id="rId33"/>
      <p:italic r:id="rId34"/>
      <p:boldItalic r:id="rId35"/>
    </p:embeddedFont>
    <p:embeddedFont>
      <p:font typeface="Poppins" panose="00000500000000000000" pitchFamily="2" charset="0"/>
      <p:regular r:id="rId36"/>
      <p:bold r:id="rId37"/>
      <p:italic r:id="rId38"/>
      <p:boldItalic r:id="rId39"/>
    </p:embeddedFont>
    <p:embeddedFont>
      <p:font typeface="Poppins Bold" panose="00000800000000000000" pitchFamily="2" charset="0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BE37059B-40DB-64E7-AB73-7BBE3FB4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>
            <a:extLst>
              <a:ext uri="{FF2B5EF4-FFF2-40B4-BE49-F238E27FC236}">
                <a16:creationId xmlns:a16="http://schemas.microsoft.com/office/drawing/2014/main" id="{984C91F6-4E36-0D35-FB38-EF1C9794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>
            <a:extLst>
              <a:ext uri="{FF2B5EF4-FFF2-40B4-BE49-F238E27FC236}">
                <a16:creationId xmlns:a16="http://schemas.microsoft.com/office/drawing/2014/main" id="{AC55FA58-D527-A213-8B3F-593E5B59E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6442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047750"/>
            <a:ext cx="11601450" cy="29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APPLICATION OF PARETO’S LAW TO SYSTEM PROCESSES AND NETWORK TRAFFIC TO DETECT ANOMALOUS BEHAVIOUR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732559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B8860B"/>
                </a:solidFill>
                <a:latin typeface="DM Sans"/>
                <a:ea typeface="DM Sans"/>
                <a:cs typeface="DM Sans"/>
                <a:sym typeface="DM Sans"/>
              </a:rPr>
              <a:t>Group-8</a:t>
            </a:r>
            <a:endParaRPr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8352FE22-364A-24D7-FFBC-2F7B01E2C636}"/>
              </a:ext>
            </a:extLst>
          </p:cNvPr>
          <p:cNvSpPr txBox="1"/>
          <p:nvPr/>
        </p:nvSpPr>
        <p:spPr>
          <a:xfrm>
            <a:off x="1035604" y="8211957"/>
            <a:ext cx="91440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>
                <a:solidFill>
                  <a:srgbClr val="FFFFFF"/>
                </a:solidFill>
                <a:latin typeface="Calibri"/>
              </a:rPr>
              <a:t>Supervisor : Prof. Mihai Lazarescu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10657-334F-2BFC-D82E-0AB368C76539}"/>
              </a:ext>
            </a:extLst>
          </p:cNvPr>
          <p:cNvSpPr txBox="1"/>
          <p:nvPr/>
        </p:nvSpPr>
        <p:spPr>
          <a:xfrm>
            <a:off x="3243648" y="5550243"/>
            <a:ext cx="978243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baseline="0">
                <a:solidFill>
                  <a:srgbClr val="002D72"/>
                </a:solidFill>
                <a:latin typeface="DM Sans"/>
              </a:rPr>
              <a:t>Supervisor</a:t>
            </a:r>
            <a:r>
              <a:rPr lang="en-US" sz="3200" b="1" baseline="0">
                <a:solidFill>
                  <a:srgbClr val="002D72"/>
                </a:solidFill>
                <a:latin typeface="Calibri"/>
              </a:rPr>
              <a:t> : Prof. Mihai Lazarescu</a:t>
            </a:r>
            <a:r>
              <a:rPr sz="3200">
                <a:solidFill>
                  <a:srgbClr val="002D72"/>
                </a:solidFill>
                <a:latin typeface="Calibri"/>
                <a:ea typeface="Calibri"/>
                <a:cs typeface="Calibri"/>
              </a:rPr>
              <a:t>​</a:t>
            </a:r>
            <a:endParaRPr lang="en-US" sz="3200">
              <a:solidFill>
                <a:srgbClr val="002D72"/>
              </a:solidFill>
            </a:endParaRPr>
          </a:p>
          <a:p>
            <a:pPr algn="ctr"/>
            <a:endParaRPr lang="en-US" sz="3200">
              <a:solidFill>
                <a:srgbClr val="002D7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43" y="635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2712"/>
            <a:ext cx="20193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28925" y="2652712"/>
            <a:ext cx="20193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86350" y="2652712"/>
            <a:ext cx="20193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3775" y="2652712"/>
            <a:ext cx="20193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01200" y="2652712"/>
            <a:ext cx="2019300" cy="25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97191" y="3586162"/>
            <a:ext cx="174732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650" b="1">
                <a:solidFill>
                  <a:srgbClr val="B8860B"/>
                </a:solidFill>
                <a:latin typeface="Merriweather"/>
                <a:ea typeface="Merriweather"/>
                <a:cs typeface="Merriweather"/>
                <a:sym typeface="Merriweather"/>
              </a:rPr>
              <a:t>Ming Yong</a:t>
            </a:r>
            <a:r>
              <a:rPr lang="en-US" sz="1650" b="1" i="0" u="none" strike="noStrike" cap="none">
                <a:solidFill>
                  <a:srgbClr val="B8860B"/>
                </a:solidFill>
                <a:latin typeface="Merriweather"/>
                <a:ea typeface="Merriweather"/>
                <a:cs typeface="Merriweather"/>
                <a:sym typeface="Merriweather"/>
              </a:rPr>
              <a:t> Tan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22816" y="4124233"/>
            <a:ext cx="925984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21920794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3248501" y="3586162"/>
            <a:ext cx="11801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8860B"/>
                </a:solidFill>
                <a:latin typeface="Merriweather"/>
                <a:ea typeface="Merriweather"/>
                <a:cs typeface="Merriweather"/>
                <a:sym typeface="Merriweather"/>
              </a:rPr>
              <a:t>Abdul Aziz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348264" y="4145367"/>
            <a:ext cx="966401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21952506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460920" y="3586162"/>
            <a:ext cx="127015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8860B"/>
                </a:solidFill>
                <a:latin typeface="Merriweather"/>
                <a:ea typeface="Merriweather"/>
                <a:cs typeface="Merriweather"/>
                <a:sym typeface="Merriweather"/>
              </a:rPr>
              <a:t>Anuj Khatri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00712" y="4146593"/>
            <a:ext cx="945034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21938690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469467" y="3586162"/>
            <a:ext cx="174732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8860B"/>
                </a:solidFill>
                <a:latin typeface="Merriweather"/>
                <a:ea typeface="Merriweather"/>
                <a:cs typeface="Merriweather"/>
                <a:sym typeface="Merriweather"/>
              </a:rPr>
              <a:t>Samrat Bajgain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860756" y="3586162"/>
            <a:ext cx="150018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8860B"/>
                </a:solidFill>
                <a:latin typeface="Merriweather"/>
                <a:ea typeface="Merriweather"/>
                <a:cs typeface="Merriweather"/>
                <a:sym typeface="Merriweather"/>
              </a:rPr>
              <a:t>Diwash Limbu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239375" y="4197049"/>
            <a:ext cx="742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21897377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14462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71887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9312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86737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44162" y="29670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Our Team</a:t>
            </a:r>
            <a:endParaRPr/>
          </a:p>
        </p:txBody>
      </p:sp>
      <p:sp>
        <p:nvSpPr>
          <p:cNvPr id="3" name="Google Shape;102;p14">
            <a:extLst>
              <a:ext uri="{FF2B5EF4-FFF2-40B4-BE49-F238E27FC236}">
                <a16:creationId xmlns:a16="http://schemas.microsoft.com/office/drawing/2014/main" id="{AF35439B-B812-0D2E-14C3-A287940FFCA9}"/>
              </a:ext>
            </a:extLst>
          </p:cNvPr>
          <p:cNvSpPr txBox="1"/>
          <p:nvPr/>
        </p:nvSpPr>
        <p:spPr>
          <a:xfrm>
            <a:off x="7883739" y="4249566"/>
            <a:ext cx="945034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350">
                <a:solidFill>
                  <a:srgbClr val="334155"/>
                </a:solidFill>
                <a:sym typeface="DM Sans"/>
              </a:rPr>
              <a:t>21694785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2238375" y="2452687"/>
            <a:ext cx="8143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72"/>
                </a:solidFill>
                <a:latin typeface="DM Sans"/>
                <a:ea typeface="DM Sans"/>
                <a:cs typeface="DM Sans"/>
                <a:sym typeface="DM Sans"/>
              </a:rPr>
              <a:t>The 80/20 Principle: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What is Pareto's Law?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2238375" y="3033712"/>
            <a:ext cx="8143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72"/>
                </a:solidFill>
                <a:latin typeface="DM Sans"/>
                <a:ea typeface="DM Sans"/>
                <a:cs typeface="DM Sans"/>
                <a:sym typeface="DM Sans"/>
              </a:rPr>
              <a:t>Background &amp; Motivation: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Why is this needed?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2238375" y="3614737"/>
            <a:ext cx="8143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72"/>
                </a:solidFill>
                <a:latin typeface="DM Sans"/>
                <a:ea typeface="DM Sans"/>
                <a:cs typeface="DM Sans"/>
                <a:sym typeface="DM Sans"/>
              </a:rPr>
              <a:t>Methodology: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How did we test it?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238375" y="4195762"/>
            <a:ext cx="8143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72"/>
                </a:solidFill>
                <a:latin typeface="DM Sans"/>
                <a:ea typeface="DM Sans"/>
                <a:cs typeface="DM Sans"/>
                <a:sym typeface="DM Sans"/>
              </a:rPr>
              <a:t>Results &amp; Evaluation: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What did we find?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238375" y="4776787"/>
            <a:ext cx="8143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72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Why does it matter?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00312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81337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662362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24338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82441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Agenda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4C69E-3984-8482-222E-4040AC93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>
            <a:extLst>
              <a:ext uri="{FF2B5EF4-FFF2-40B4-BE49-F238E27FC236}">
                <a16:creationId xmlns:a16="http://schemas.microsoft.com/office/drawing/2014/main" id="{762F2042-C412-8E9F-38EC-F65518A38E48}"/>
              </a:ext>
            </a:extLst>
          </p:cNvPr>
          <p:cNvSpPr/>
          <p:nvPr/>
        </p:nvSpPr>
        <p:spPr>
          <a:xfrm>
            <a:off x="5353010" y="-687730"/>
            <a:ext cx="8247066" cy="1199573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C92DE21-280D-7F07-7C36-D61C46C9F974}"/>
              </a:ext>
            </a:extLst>
          </p:cNvPr>
          <p:cNvSpPr/>
          <p:nvPr/>
        </p:nvSpPr>
        <p:spPr>
          <a:xfrm>
            <a:off x="9643524" y="48006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085BBC7-E54E-4E42-9B8A-7CAA8DE7911D}"/>
              </a:ext>
            </a:extLst>
          </p:cNvPr>
          <p:cNvSpPr txBox="1"/>
          <p:nvPr/>
        </p:nvSpPr>
        <p:spPr>
          <a:xfrm>
            <a:off x="695923" y="745104"/>
            <a:ext cx="5252875" cy="819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6276"/>
              </a:lnSpc>
            </a:pPr>
            <a:r>
              <a:rPr lang="en-US" sz="5300" b="1">
                <a:solidFill>
                  <a:srgbClr val="002D72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  <a:endParaRPr lang="en-US" sz="5300" b="1">
              <a:solidFill>
                <a:srgbClr val="002D72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81289C1-6D61-F7DD-C439-F068873AF120}"/>
              </a:ext>
            </a:extLst>
          </p:cNvPr>
          <p:cNvSpPr txBox="1"/>
          <p:nvPr/>
        </p:nvSpPr>
        <p:spPr>
          <a:xfrm>
            <a:off x="698013" y="1841754"/>
            <a:ext cx="9957301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2400">
                <a:solidFill>
                  <a:srgbClr val="002D72"/>
                </a:solidFill>
                <a:latin typeface="DM Sans"/>
                <a:ea typeface="+mn-lt"/>
                <a:cs typeface="+mn-lt"/>
              </a:rPr>
              <a:t>The Pareto principle is a phenomenon that states that roughly 80% of outcomes come from 20% of causes.</a:t>
            </a:r>
            <a:endParaRPr lang="en-US" sz="2400">
              <a:solidFill>
                <a:srgbClr val="002D72"/>
              </a:solidFill>
              <a:latin typeface="DM Sans"/>
              <a:ea typeface="Calibri"/>
              <a:cs typeface="Calibri"/>
            </a:endParaRPr>
          </a:p>
        </p:txBody>
      </p:sp>
      <p:pic>
        <p:nvPicPr>
          <p:cNvPr id="14" name="Picture 13" descr="A graph and diagram on a black background&#10;&#10;AI-generated content may be incorrect.">
            <a:extLst>
              <a:ext uri="{FF2B5EF4-FFF2-40B4-BE49-F238E27FC236}">
                <a16:creationId xmlns:a16="http://schemas.microsoft.com/office/drawing/2014/main" id="{AD67AB15-BDFC-2BD3-0A07-455D976A62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5387" y="2599157"/>
            <a:ext cx="6946975" cy="38530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9FF75751-C661-97AC-28AB-B8CEA4CD6BD8}"/>
              </a:ext>
            </a:extLst>
          </p:cNvPr>
          <p:cNvSpPr txBox="1"/>
          <p:nvPr/>
        </p:nvSpPr>
        <p:spPr>
          <a:xfrm>
            <a:off x="4622990" y="6450380"/>
            <a:ext cx="4852281" cy="241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Figure : Pareto's Principle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22535581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4BD5-860A-AA0D-7EAC-FB4480A1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01EB2D7C-3E7C-9611-8C4A-7191379639EE}"/>
              </a:ext>
            </a:extLst>
          </p:cNvPr>
          <p:cNvSpPr/>
          <p:nvPr/>
        </p:nvSpPr>
        <p:spPr>
          <a:xfrm>
            <a:off x="5353010" y="-687730"/>
            <a:ext cx="8247066" cy="1199573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2862B5F-558F-EEF8-D1FC-7F2E831D523B}"/>
              </a:ext>
            </a:extLst>
          </p:cNvPr>
          <p:cNvSpPr/>
          <p:nvPr/>
        </p:nvSpPr>
        <p:spPr>
          <a:xfrm>
            <a:off x="-308917" y="329515"/>
            <a:ext cx="12238334" cy="1946189"/>
          </a:xfrm>
          <a:custGeom>
            <a:avLst/>
            <a:gdLst/>
            <a:ahLst/>
            <a:cxnLst/>
            <a:rect l="l" t="t" r="r" b="b"/>
            <a:pathLst>
              <a:path w="4816592" h="2709333">
                <a:moveTo>
                  <a:pt x="0" y="0"/>
                </a:moveTo>
                <a:lnTo>
                  <a:pt x="4816592" y="0"/>
                </a:lnTo>
                <a:lnTo>
                  <a:pt x="4816592" y="2709333"/>
                </a:lnTo>
                <a:lnTo>
                  <a:pt x="0" y="2709333"/>
                </a:lnTo>
                <a:close/>
              </a:path>
            </a:pathLst>
          </a:custGeom>
          <a:gradFill rotWithShape="1">
            <a:gsLst>
              <a:gs pos="0">
                <a:srgbClr val="070D32">
                  <a:alpha val="86000"/>
                </a:srgbClr>
              </a:gs>
              <a:gs pos="100000">
                <a:srgbClr val="001496">
                  <a:alpha val="86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F3352647-297E-342A-5B08-7074DF173D90}"/>
              </a:ext>
            </a:extLst>
          </p:cNvPr>
          <p:cNvSpPr/>
          <p:nvPr/>
        </p:nvSpPr>
        <p:spPr>
          <a:xfrm>
            <a:off x="-979228" y="6552595"/>
            <a:ext cx="10478555" cy="1270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F885B0AF-B025-25AA-7706-55A4386F8DF6}"/>
              </a:ext>
            </a:extLst>
          </p:cNvPr>
          <p:cNvSpPr txBox="1"/>
          <p:nvPr/>
        </p:nvSpPr>
        <p:spPr>
          <a:xfrm>
            <a:off x="183517" y="600223"/>
            <a:ext cx="10100961" cy="819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276"/>
              </a:lnSpc>
            </a:pPr>
            <a:r>
              <a:rPr lang="en-US" sz="5334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Why Pareto's Law ?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C6A6E545-50E8-CC7E-DA07-D1FBB409D83D}"/>
              </a:ext>
            </a:extLst>
          </p:cNvPr>
          <p:cNvSpPr txBox="1"/>
          <p:nvPr/>
        </p:nvSpPr>
        <p:spPr>
          <a:xfrm>
            <a:off x="318274" y="1715851"/>
            <a:ext cx="10985091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solidFill>
                  <a:schemeClr val="bg1"/>
                </a:solidFill>
                <a:latin typeface="quote-cjk-patch"/>
                <a:ea typeface="quote-cjk-patch"/>
                <a:cs typeface="quote-cjk-patch"/>
              </a:rPr>
              <a:t>Maximize Efficiency - Improve Decision Making - Strategic Resource Allocation</a:t>
            </a:r>
            <a:endParaRPr lang="en-US" sz="2400">
              <a:solidFill>
                <a:schemeClr val="bg1"/>
              </a:solidFill>
              <a:latin typeface="quote-cjk-patch"/>
              <a:ea typeface="Calibri"/>
              <a:cs typeface="Calibri"/>
            </a:endParaRPr>
          </a:p>
        </p:txBody>
      </p:sp>
      <p:pic>
        <p:nvPicPr>
          <p:cNvPr id="11" name="Picture 10" descr="A diagram of a work input&#10;&#10;AI-generated content may be incorrect.">
            <a:extLst>
              <a:ext uri="{FF2B5EF4-FFF2-40B4-BE49-F238E27FC236}">
                <a16:creationId xmlns:a16="http://schemas.microsoft.com/office/drawing/2014/main" id="{26E21846-69A3-12C1-3987-8A0D6E159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703" y="2432596"/>
            <a:ext cx="8621789" cy="37353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4697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DAC3E-9B3F-CAB3-1326-A5F981695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2">
            <a:extLst>
              <a:ext uri="{FF2B5EF4-FFF2-40B4-BE49-F238E27FC236}">
                <a16:creationId xmlns:a16="http://schemas.microsoft.com/office/drawing/2014/main" id="{F1F450B0-7EFB-77BB-DB43-FB70A93C546F}"/>
              </a:ext>
            </a:extLst>
          </p:cNvPr>
          <p:cNvSpPr/>
          <p:nvPr/>
        </p:nvSpPr>
        <p:spPr>
          <a:xfrm>
            <a:off x="5353010" y="-687730"/>
            <a:ext cx="8247066" cy="1199573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1D662291-3FD5-E625-685D-D7F346EC874E}"/>
              </a:ext>
            </a:extLst>
          </p:cNvPr>
          <p:cNvSpPr/>
          <p:nvPr/>
        </p:nvSpPr>
        <p:spPr>
          <a:xfrm>
            <a:off x="-979228" y="6552595"/>
            <a:ext cx="10478555" cy="12700"/>
          </a:xfrm>
          <a:prstGeom prst="line">
            <a:avLst/>
          </a:prstGeom>
          <a:ln w="28575" cap="flat">
            <a:solidFill>
              <a:srgbClr val="64DB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CC736BB4-15FF-6EB2-DFFB-789BFDFB37AF}"/>
              </a:ext>
            </a:extLst>
          </p:cNvPr>
          <p:cNvSpPr txBox="1"/>
          <p:nvPr/>
        </p:nvSpPr>
        <p:spPr>
          <a:xfrm>
            <a:off x="693233" y="909142"/>
            <a:ext cx="10100961" cy="160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276"/>
              </a:lnSpc>
            </a:pPr>
            <a:r>
              <a:rPr lang="en-US" sz="5300" b="1">
                <a:solidFill>
                  <a:srgbClr val="002D72"/>
                </a:solidFill>
                <a:latin typeface="Poppins Bold"/>
                <a:ea typeface="Poppins Bold"/>
                <a:cs typeface="Poppins Bold"/>
              </a:rPr>
              <a:t>Why Pareto's Law Important in Computing?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22D33-E4CF-55EE-BAE4-B9DB10589ADE}"/>
              </a:ext>
            </a:extLst>
          </p:cNvPr>
          <p:cNvSpPr txBox="1"/>
          <p:nvPr/>
        </p:nvSpPr>
        <p:spPr>
          <a:xfrm>
            <a:off x="937054" y="2625811"/>
            <a:ext cx="5272217" cy="30162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0960" tIns="30480" rIns="60960" bIns="304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400" indent="-152400">
              <a:buFont typeface=""/>
              <a:buChar char="•"/>
            </a:pPr>
            <a:r>
              <a:rPr lang="en-US" sz="2100">
                <a:solidFill>
                  <a:srgbClr val="002D72"/>
                </a:solidFill>
              </a:rPr>
              <a:t>Helps identify critical processes using most system resources</a:t>
            </a:r>
            <a:endParaRPr lang="en-US" sz="2100">
              <a:solidFill>
                <a:srgbClr val="002D72"/>
              </a:solidFill>
              <a:ea typeface="Calibri"/>
              <a:cs typeface="Calibri"/>
            </a:endParaRPr>
          </a:p>
          <a:p>
            <a:pPr marL="152400" indent="-152400">
              <a:buFont typeface=""/>
              <a:buChar char="•"/>
            </a:pPr>
            <a:r>
              <a:rPr lang="en-US" sz="2100">
                <a:solidFill>
                  <a:srgbClr val="002D72"/>
                </a:solidFill>
              </a:rPr>
              <a:t>Enables faster problem detection and performance optimization</a:t>
            </a:r>
            <a:endParaRPr lang="en-US" sz="2100">
              <a:solidFill>
                <a:srgbClr val="002D72"/>
              </a:solidFill>
              <a:ea typeface="Calibri"/>
              <a:cs typeface="Calibri"/>
            </a:endParaRPr>
          </a:p>
          <a:p>
            <a:pPr marL="152400" indent="-152400">
              <a:buFont typeface=""/>
              <a:buChar char="•"/>
            </a:pPr>
            <a:r>
              <a:rPr lang="en-US" sz="2100">
                <a:solidFill>
                  <a:srgbClr val="002D72"/>
                </a:solidFill>
              </a:rPr>
              <a:t>Reveals anomalous or malicious activity (e.g., crypto mining, malware)</a:t>
            </a:r>
            <a:endParaRPr lang="en-US" sz="2100">
              <a:solidFill>
                <a:srgbClr val="002D72"/>
              </a:solidFill>
              <a:ea typeface="Calibri"/>
              <a:cs typeface="Calibri"/>
            </a:endParaRPr>
          </a:p>
          <a:p>
            <a:pPr marL="152400" indent="-152400">
              <a:buFont typeface=""/>
              <a:buChar char="•"/>
            </a:pPr>
            <a:r>
              <a:rPr lang="en-US" sz="2100">
                <a:solidFill>
                  <a:srgbClr val="002D72"/>
                </a:solidFill>
              </a:rPr>
              <a:t>Improves decision-making in cybersecurity and system management</a:t>
            </a:r>
            <a:endParaRPr lang="en-US" sz="2100">
              <a:solidFill>
                <a:srgbClr val="002D72"/>
              </a:solidFill>
              <a:ea typeface="Calibri"/>
              <a:cs typeface="Calibri"/>
            </a:endParaRPr>
          </a:p>
          <a:p>
            <a:pPr algn="ctr"/>
            <a:endParaRPr lang="en-US" sz="2100">
              <a:solidFill>
                <a:srgbClr val="002D72"/>
              </a:solidFill>
              <a:ea typeface="Calibri"/>
              <a:cs typeface="Calibri"/>
            </a:endParaRPr>
          </a:p>
        </p:txBody>
      </p:sp>
      <p:pic>
        <p:nvPicPr>
          <p:cNvPr id="9" name="Picture 8" descr="A comparison of blue and red bars&#10;&#10;AI-generated content may be incorrect.">
            <a:extLst>
              <a:ext uri="{FF2B5EF4-FFF2-40B4-BE49-F238E27FC236}">
                <a16:creationId xmlns:a16="http://schemas.microsoft.com/office/drawing/2014/main" id="{8BCD9018-851A-EB2B-8E59-389DE725F0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385" r="100" b="9433"/>
          <a:stretch>
            <a:fillRect/>
          </a:stretch>
        </p:blipFill>
        <p:spPr>
          <a:xfrm>
            <a:off x="6208240" y="2741826"/>
            <a:ext cx="5536859" cy="25605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5844688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2238375" y="2519362"/>
            <a:ext cx="8143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Modern Machine Learning (ML) security models are often too complex, and expensive</a:t>
            </a:r>
            <a:r>
              <a:rPr lang="en-US" sz="18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2238375" y="3443287"/>
            <a:ext cx="8143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leads to "Alert Fatigue," where security analysts are overwhelmed with false alarms and miss real threats.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2238375" y="4367212"/>
            <a:ext cx="8143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We need a simpler, explainable, and cost-effective method to find abnormal resource usage.</a:t>
            </a:r>
            <a:endParaRPr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66987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90912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41483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 &amp; Motivation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B57B-D478-71D9-753D-5739A5FD9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312" y="2576"/>
            <a:ext cx="12200626" cy="1470025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002D72"/>
                </a:solidFill>
                <a:latin typeface="Merriweather"/>
              </a:rPr>
              <a:t>Methodology Overview: Approach and Research Focus</a:t>
            </a:r>
            <a:endParaRPr lang="en-US" sz="3200" b="1">
              <a:latin typeface="Merriweather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B80F2-6420-FB36-6521-FFDB3570B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2845" y="1470804"/>
            <a:ext cx="9204385" cy="4570562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 algn="l">
              <a:buChar char="•"/>
            </a:pPr>
            <a:r>
              <a:rPr lang="en-US" sz="1800">
                <a:solidFill>
                  <a:srgbClr val="002060"/>
                </a:solidFill>
                <a:latin typeface="Poppins"/>
              </a:rPr>
              <a:t>Design-science with quantitative evaluation, </a:t>
            </a:r>
            <a:r>
              <a:rPr lang="en-US" sz="1800" b="1">
                <a:solidFill>
                  <a:srgbClr val="002060"/>
                </a:solidFill>
                <a:latin typeface="Poppins"/>
              </a:rPr>
              <a:t>Pareto Law</a:t>
            </a:r>
            <a:r>
              <a:rPr lang="en-US" sz="1800">
                <a:solidFill>
                  <a:srgbClr val="002060"/>
                </a:solidFill>
                <a:latin typeface="Poppins"/>
              </a:rPr>
              <a:t> tested on Windows 10/11/Server 2019 VMs</a:t>
            </a:r>
          </a:p>
          <a:p>
            <a:pPr marL="0" indent="0" algn="l"/>
            <a:endParaRPr lang="en-US" sz="1800">
              <a:solidFill>
                <a:srgbClr val="002060"/>
              </a:solidFill>
              <a:latin typeface="Poppins"/>
            </a:endParaRPr>
          </a:p>
          <a:p>
            <a:pPr marL="285750" indent="-285750" algn="l">
              <a:buChar char="•"/>
            </a:pPr>
            <a:r>
              <a:rPr lang="en-US" sz="1800">
                <a:solidFill>
                  <a:srgbClr val="002060"/>
                </a:solidFill>
                <a:latin typeface="Poppins"/>
              </a:rPr>
              <a:t>Workloads: Single/multi-apps, single/multi/domain users; Metrics: CPU, memory, disk I/O, network; Windows: 5/10/15 min</a:t>
            </a:r>
          </a:p>
          <a:p>
            <a:pPr marL="0" indent="0" algn="l"/>
            <a:endParaRPr lang="en-US" sz="1800">
              <a:solidFill>
                <a:srgbClr val="002060"/>
              </a:solidFill>
              <a:latin typeface="Poppins"/>
            </a:endParaRPr>
          </a:p>
          <a:p>
            <a:pPr marL="285750" indent="-285750" algn="l">
              <a:buChar char="•"/>
            </a:pPr>
            <a:r>
              <a:rPr lang="en-US" sz="1800">
                <a:solidFill>
                  <a:srgbClr val="002060"/>
                </a:solidFill>
                <a:latin typeface="Poppins"/>
              </a:rPr>
              <a:t>RQ: Do top 20% processes/flows contribute &gt;80% usage? How do profiles/workloads shift compliance? Do protocols/endpoints show 80/20?</a:t>
            </a:r>
          </a:p>
          <a:p>
            <a:pPr marL="0" indent="0" algn="l"/>
            <a:endParaRPr lang="en-US" sz="1800">
              <a:solidFill>
                <a:srgbClr val="002060"/>
              </a:solidFill>
              <a:latin typeface="Poppins"/>
            </a:endParaRPr>
          </a:p>
          <a:p>
            <a:pPr marL="285750" indent="-285750" algn="l">
              <a:buChar char="•"/>
            </a:pPr>
            <a:r>
              <a:rPr lang="en-US" sz="1800">
                <a:solidFill>
                  <a:srgbClr val="002060"/>
                </a:solidFill>
                <a:latin typeface="Poppins"/>
              </a:rPr>
              <a:t>Hypotheses: H1 - Baselines compliant; H2 - Multi-conditions reduce compliance; H3 - Network shows 80/20</a:t>
            </a:r>
          </a:p>
        </p:txBody>
      </p:sp>
    </p:spTree>
    <p:extLst>
      <p:ext uri="{BB962C8B-B14F-4D97-AF65-F5344CB8AC3E}">
        <p14:creationId xmlns:p14="http://schemas.microsoft.com/office/powerpoint/2010/main" val="3851013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73C20-CA9B-5046-D25E-88EBD6163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57200"/>
            <a:ext cx="10909640" cy="1368614"/>
          </a:xfrm>
        </p:spPr>
        <p:txBody>
          <a:bodyPr anchor="ctr">
            <a:normAutofit/>
          </a:bodyPr>
          <a:lstStyle/>
          <a:p>
            <a:r>
              <a:rPr lang="en-US" sz="3200" b="1">
                <a:solidFill>
                  <a:srgbClr val="002D72"/>
                </a:solidFill>
                <a:latin typeface="Merriweather"/>
              </a:rPr>
              <a:t>Topology &amp; Pipeline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0AE8F6E5-A18B-5E26-006B-20B5D140B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80490"/>
            <a:ext cx="5614416" cy="3130036"/>
          </a:xfrm>
          <a:prstGeom prst="rect">
            <a:avLst/>
          </a:prstGeom>
        </p:spPr>
      </p:pic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854918AC-C94E-47BB-8BFB-4505274D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968283"/>
            <a:ext cx="5614416" cy="95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58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445" y="1838325"/>
            <a:ext cx="5329507" cy="4464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38325"/>
            <a:ext cx="5286375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962025" y="222885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Lab Setup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62025" y="2781300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Environment: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76402" y="3855828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Tools: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724650" y="2228850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81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The Experiment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724650" y="2781300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Phase 1: Baseline (Normal)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724650" y="4143375"/>
            <a:ext cx="45053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Phase 2: Attack (Anomaly)</a:t>
            </a:r>
            <a:endParaRPr/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26695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305284" y="3247665"/>
            <a:ext cx="4722781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Windows 10, 11, &amp; Server 2019 (Virtual Machines)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300252" y="4354303"/>
            <a:ext cx="42195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SysGauge: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monitor CPU &amp; Memory</a:t>
            </a:r>
            <a:endParaRPr/>
          </a:p>
        </p:txBody>
      </p:sp>
      <p:pic>
        <p:nvPicPr>
          <p:cNvPr id="180" name="Google Shape;180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2669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010400" y="3305175"/>
            <a:ext cx="4219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Ran common apps: Brave, Telegram, Visual Studio.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7010400" y="4667250"/>
            <a:ext cx="4219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Ran malicious exploits: Crypto-miner &amp; PHP Backdoor.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Methodology: Setup &amp; Experiment</a:t>
            </a:r>
            <a:endParaRPr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33528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6402" y="44273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33528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471487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9;p19">
            <a:extLst>
              <a:ext uri="{FF2B5EF4-FFF2-40B4-BE49-F238E27FC236}">
                <a16:creationId xmlns:a16="http://schemas.microsoft.com/office/drawing/2014/main" id="{627D252B-6CB7-1FD9-D3E7-5FEF08770A14}"/>
              </a:ext>
            </a:extLst>
          </p:cNvPr>
          <p:cNvSpPr txBox="1"/>
          <p:nvPr/>
        </p:nvSpPr>
        <p:spPr>
          <a:xfrm>
            <a:off x="1300252" y="4748002"/>
            <a:ext cx="44100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ProcessExp64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monitor </a:t>
            </a: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Disk I/O</a:t>
            </a:r>
            <a:endParaRPr/>
          </a:p>
        </p:txBody>
      </p:sp>
      <p:pic>
        <p:nvPicPr>
          <p:cNvPr id="3" name="Google Shape;186;p19" descr="image.png">
            <a:extLst>
              <a:ext uri="{FF2B5EF4-FFF2-40B4-BE49-F238E27FC236}">
                <a16:creationId xmlns:a16="http://schemas.microsoft.com/office/drawing/2014/main" id="{50611078-FB3C-0EEE-4C0B-DD3B36E71A4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702" y="4821028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79;p19">
            <a:extLst>
              <a:ext uri="{FF2B5EF4-FFF2-40B4-BE49-F238E27FC236}">
                <a16:creationId xmlns:a16="http://schemas.microsoft.com/office/drawing/2014/main" id="{DFC838BA-989A-D849-439F-0C002C622DC0}"/>
              </a:ext>
            </a:extLst>
          </p:cNvPr>
          <p:cNvSpPr txBox="1"/>
          <p:nvPr/>
        </p:nvSpPr>
        <p:spPr>
          <a:xfrm>
            <a:off x="1300252" y="5042739"/>
            <a:ext cx="4694027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Wireshark: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monitor Network Traffic</a:t>
            </a: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(IPv4)</a:t>
            </a:r>
            <a:endParaRPr/>
          </a:p>
        </p:txBody>
      </p:sp>
      <p:pic>
        <p:nvPicPr>
          <p:cNvPr id="5" name="Google Shape;186;p19">
            <a:extLst>
              <a:ext uri="{FF2B5EF4-FFF2-40B4-BE49-F238E27FC236}">
                <a16:creationId xmlns:a16="http://schemas.microsoft.com/office/drawing/2014/main" id="{778E3DDC-C73C-9E83-2032-718EA7DF969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702" y="5189328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9;p19">
            <a:extLst>
              <a:ext uri="{FF2B5EF4-FFF2-40B4-BE49-F238E27FC236}">
                <a16:creationId xmlns:a16="http://schemas.microsoft.com/office/drawing/2014/main" id="{6B464A92-7FAC-9D63-AC95-9CE364E9585E}"/>
              </a:ext>
            </a:extLst>
          </p:cNvPr>
          <p:cNvSpPr txBox="1"/>
          <p:nvPr/>
        </p:nvSpPr>
        <p:spPr>
          <a:xfrm>
            <a:off x="1285875" y="5402173"/>
            <a:ext cx="4708404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Python Script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</a:t>
            </a: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cleanse and conversion of data.</a:t>
            </a:r>
            <a:endParaRPr/>
          </a:p>
        </p:txBody>
      </p:sp>
      <p:pic>
        <p:nvPicPr>
          <p:cNvPr id="7" name="Google Shape;186;p19">
            <a:extLst>
              <a:ext uri="{FF2B5EF4-FFF2-40B4-BE49-F238E27FC236}">
                <a16:creationId xmlns:a16="http://schemas.microsoft.com/office/drawing/2014/main" id="{B10F2F0A-AD0B-17A0-9EED-A11C58AA5173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702" y="5563139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p!!Rectangle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8D5D5C-CC24-BBE6-D0E2-53F3DB6D5D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46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2" name="m!!text rectangle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6CBD5-0F1A-D7B3-C43C-A7BF0074E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121" y="4727173"/>
            <a:ext cx="7985759" cy="868823"/>
          </a:xfrm>
        </p:spPr>
        <p:txBody>
          <a:bodyPr anchor="ctr">
            <a:normAutofit/>
          </a:bodyPr>
          <a:lstStyle/>
          <a:p>
            <a:r>
              <a:rPr lang="en-AU" sz="1800" b="1">
                <a:solidFill>
                  <a:srgbClr val="002060"/>
                </a:solidFill>
                <a:latin typeface="Merriweather"/>
              </a:rPr>
              <a:t>Python Script GUI application</a:t>
            </a:r>
            <a:endParaRPr lang="en-US" sz="1800" b="1">
              <a:solidFill>
                <a:srgbClr val="002060"/>
              </a:solidFill>
              <a:latin typeface="Merriweather"/>
            </a:endParaRPr>
          </a:p>
        </p:txBody>
      </p:sp>
      <p:sp>
        <p:nvSpPr>
          <p:cNvPr id="43" name="m!!accent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0088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855A890-B60B-4670-9DC2-69DC05015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D2F80-585A-328C-E365-D38AB46A9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467" y="2023110"/>
            <a:ext cx="2469624" cy="2846070"/>
          </a:xfrm>
        </p:spPr>
        <p:txBody>
          <a:bodyPr anchor="ctr">
            <a:normAutofit/>
          </a:bodyPr>
          <a:lstStyle/>
          <a:p>
            <a:pPr algn="l"/>
            <a:r>
              <a:rPr lang="en-US" sz="2000" b="1">
                <a:solidFill>
                  <a:srgbClr val="002D72"/>
                </a:solidFill>
                <a:latin typeface="Merriweather"/>
              </a:rPr>
              <a:t>Sample of data cleanse and conversion Pareto compliance table</a:t>
            </a:r>
            <a:endParaRPr lang="en-US" sz="2000"/>
          </a:p>
          <a:p>
            <a:pPr algn="l"/>
            <a:endParaRPr lang="en-US" sz="2000" b="1">
              <a:solidFill>
                <a:srgbClr val="002D72"/>
              </a:solidFill>
              <a:latin typeface="Merriweathe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22480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42549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283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485A0C-9BD6-7AC3-8DBE-B0AD9D6D7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762" y="883463"/>
            <a:ext cx="3684298" cy="2523744"/>
          </a:xfrm>
          <a:prstGeom prst="rect">
            <a:avLst/>
          </a:prstGeom>
        </p:spPr>
      </p:pic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4FEAB86E-57E9-A165-8A6B-067CC9FD8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572" y="1163955"/>
            <a:ext cx="3703320" cy="19627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5BC569-4FFE-B4E0-0F04-7BBE1E6A8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251" y="3965824"/>
            <a:ext cx="3703320" cy="172204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FA834D-8F19-AFF5-5818-A85273861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998" y="4382446"/>
            <a:ext cx="3703320" cy="88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76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71500" y="571500"/>
            <a:ext cx="10038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Windows 10 and Windows Server (Baseline)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2305050"/>
            <a:ext cx="475371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Under normal use ("Telegram Only"), the 80/20 Law held true.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5086350"/>
            <a:ext cx="10038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data represents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stable, balanced, and non-compromised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system. This is our "normal."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09625" y="3295650"/>
            <a:ext cx="451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DM Sans"/>
              <a:buChar char="●"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CPU Usage: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Remained "Pareto Compliant" for all users, with the top 20% of processes using &gt;80% of resources.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09625" y="4295775"/>
            <a:ext cx="45156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457200" marR="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DM Sans"/>
              <a:buChar char="●"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Memory Usage: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Also compliant for most users.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463" y="1793550"/>
            <a:ext cx="47538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Windows 10 &amp; 11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856613" y="1746356"/>
            <a:ext cx="47538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Windows Server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506372" y="1773675"/>
            <a:ext cx="42900" cy="3099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962600" y="2067100"/>
            <a:ext cx="5959800" cy="28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System (CPU) Baseline:</a:t>
            </a:r>
            <a:endParaRPr sz="1500" b="1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Under normal use, the CPU was mostly compliant.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Showed high compliance (&gt;90%) at higher loads.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However, it was Non-Compliant (77%) at low load (1 User, 5 min).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System (Memory) Baseline</a:t>
            </a:r>
            <a:endParaRPr sz="1500" b="1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Memory baseline was consistently Non-Compliant.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Usage remained spread out (62-68%) across all users and times.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is a key finding: "normal" for this server is *not* 80/20 compliant for RAM.</a:t>
            </a:r>
            <a:endParaRPr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571500" y="2209800"/>
            <a:ext cx="528637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When the exploit was active, the Pareto balance broke, signaling an anomaly.</a:t>
            </a:r>
            <a:endParaRPr lang="en-US"/>
          </a:p>
        </p:txBody>
      </p:sp>
      <p:sp>
        <p:nvSpPr>
          <p:cNvPr id="209" name="Google Shape;209;p21"/>
          <p:cNvSpPr txBox="1"/>
          <p:nvPr/>
        </p:nvSpPr>
        <p:spPr>
          <a:xfrm>
            <a:off x="571500" y="4972050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clear deviation from the "normal" baseline is a simple and effective alert.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57250" y="3048000"/>
            <a:ext cx="50006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CPU Usage: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Became "Non-Compliant" for one user (78.1%) as the exploit's processes competed for resources.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57250" y="4133850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Memory Usage: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Became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"Non-Compliant" for ALL users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dropping to 70-77%.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Windows 10 (Attack)</a:t>
            </a:r>
            <a:endParaRPr/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956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8147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B2EF-F3D3-3059-4F7D-03D4EF5D0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41705"/>
            <a:ext cx="7772400" cy="1119505"/>
          </a:xfrm>
        </p:spPr>
        <p:txBody>
          <a:bodyPr/>
          <a:lstStyle/>
          <a:p>
            <a:r>
              <a:rPr lang="en-GB">
                <a:solidFill>
                  <a:schemeClr val="bg2">
                    <a:lumMod val="60000"/>
                    <a:lumOff val="40000"/>
                  </a:schemeClr>
                </a:solidFill>
              </a:rPr>
              <a:t>Windows10 Analysis: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9B828-70E7-CA2A-FC92-9D842531E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863509"/>
            <a:ext cx="3740540" cy="4637932"/>
          </a:xfrm>
        </p:spPr>
        <p:txBody>
          <a:bodyPr>
            <a:normAutofit fontScale="62500" lnSpcReduction="20000"/>
          </a:bodyPr>
          <a:lstStyle/>
          <a:p>
            <a:pPr marL="285750" indent="-285750" algn="just">
              <a:spcBef>
                <a:spcPts val="0"/>
              </a:spcBef>
              <a:buFont typeface="Arial,Sans-Serif"/>
              <a:buChar char="•"/>
            </a:pPr>
            <a:r>
              <a:rPr lang="en-US" sz="2100" b="1">
                <a:solidFill>
                  <a:schemeClr val="bg2">
                    <a:lumMod val="60000"/>
                    <a:lumOff val="40000"/>
                  </a:schemeClr>
                </a:solidFill>
              </a:rPr>
              <a:t>Findings:</a:t>
            </a:r>
            <a:endParaRPr lang="en-US" sz="210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285750" indent="-285750" algn="just">
              <a:spcBef>
                <a:spcPts val="0"/>
              </a:spcBef>
              <a:buFont typeface="Arial,Sans-Serif"/>
              <a:buChar char="•"/>
            </a:pPr>
            <a:r>
              <a:rPr lang="en-US" sz="2100">
                <a:solidFill>
                  <a:schemeClr val="tx1"/>
                </a:solidFill>
              </a:rPr>
              <a:t>Under normal use, the </a:t>
            </a:r>
            <a:r>
              <a:rPr lang="en-US" sz="2100" b="1">
                <a:solidFill>
                  <a:schemeClr val="tx1"/>
                </a:solidFill>
              </a:rPr>
              <a:t>Pareto Law (80/20)</a:t>
            </a:r>
            <a:r>
              <a:rPr lang="en-US" sz="2100">
                <a:solidFill>
                  <a:schemeClr val="tx1"/>
                </a:solidFill>
              </a:rPr>
              <a:t> held true — around </a:t>
            </a:r>
            <a:r>
              <a:rPr lang="en-US" sz="2100" b="1">
                <a:solidFill>
                  <a:schemeClr val="tx1"/>
                </a:solidFill>
              </a:rPr>
              <a:t>20% of processes consumed approximately 80% of the CPU</a:t>
            </a:r>
            <a:r>
              <a:rPr lang="en-US" sz="2100">
                <a:solidFill>
                  <a:schemeClr val="tx1"/>
                </a:solidFill>
              </a:rPr>
              <a:t> and </a:t>
            </a:r>
            <a:r>
              <a:rPr lang="en-US" sz="2100" b="1">
                <a:solidFill>
                  <a:schemeClr val="tx1"/>
                </a:solidFill>
              </a:rPr>
              <a:t>about 80% of total-memory. </a:t>
            </a:r>
            <a:r>
              <a:rPr lang="en-US" sz="2100">
                <a:solidFill>
                  <a:schemeClr val="tx1"/>
                </a:solidFill>
              </a:rPr>
              <a:t>Therefore, under normal operating conditions, the system remained </a:t>
            </a:r>
            <a:r>
              <a:rPr lang="en-US" sz="2100" b="1">
                <a:solidFill>
                  <a:schemeClr val="tx1"/>
                </a:solidFill>
              </a:rPr>
              <a:t>Pareto-balanced (Yes)</a:t>
            </a:r>
            <a:r>
              <a:rPr lang="en-US" sz="2100">
                <a:solidFill>
                  <a:schemeClr val="tx1"/>
                </a:solidFill>
              </a:rPr>
              <a:t>.</a:t>
            </a:r>
          </a:p>
          <a:p>
            <a:pPr marL="285750" indent="-285750" algn="just">
              <a:spcBef>
                <a:spcPts val="0"/>
              </a:spcBef>
              <a:buFont typeface="Arial,Sans-Serif"/>
              <a:buChar char="•"/>
            </a:pPr>
            <a:r>
              <a:rPr lang="en-US" sz="2100">
                <a:solidFill>
                  <a:schemeClr val="tx1"/>
                </a:solidFill>
              </a:rPr>
              <a:t>During </a:t>
            </a:r>
            <a:r>
              <a:rPr lang="en-US" sz="2100" b="1">
                <a:solidFill>
                  <a:schemeClr val="tx1"/>
                </a:solidFill>
              </a:rPr>
              <a:t>exploit simulations or crypto-mining activity</a:t>
            </a:r>
            <a:r>
              <a:rPr lang="en-US" sz="2100">
                <a:solidFill>
                  <a:schemeClr val="tx1"/>
                </a:solidFill>
              </a:rPr>
              <a:t>, both CPU and memory usage spiked sharply, with only a few processes or network flows dominating resource consumption.</a:t>
            </a:r>
          </a:p>
          <a:p>
            <a:pPr marL="285750" indent="-285750" algn="just">
              <a:spcBef>
                <a:spcPts val="0"/>
              </a:spcBef>
              <a:buFont typeface="Arial,Sans-Serif"/>
              <a:buChar char="•"/>
            </a:pPr>
            <a:r>
              <a:rPr lang="en-US" sz="2100">
                <a:solidFill>
                  <a:schemeClr val="tx1"/>
                </a:solidFill>
              </a:rPr>
              <a:t>The </a:t>
            </a:r>
            <a:r>
              <a:rPr lang="en-US" sz="2100" b="1">
                <a:solidFill>
                  <a:schemeClr val="tx1"/>
                </a:solidFill>
              </a:rPr>
              <a:t>Pareto balance broke</a:t>
            </a:r>
            <a:r>
              <a:rPr lang="en-US" sz="2100">
                <a:solidFill>
                  <a:schemeClr val="tx1"/>
                </a:solidFill>
              </a:rPr>
              <a:t>, clearly indicating </a:t>
            </a:r>
            <a:r>
              <a:rPr lang="en-US" sz="2100" b="1">
                <a:solidFill>
                  <a:schemeClr val="tx1"/>
                </a:solidFill>
              </a:rPr>
              <a:t>abnormal system </a:t>
            </a:r>
            <a:r>
              <a:rPr lang="en-US" sz="2100" b="1" err="1">
                <a:solidFill>
                  <a:schemeClr val="tx1"/>
                </a:solidFill>
              </a:rPr>
              <a:t>behaviour</a:t>
            </a:r>
            <a:r>
              <a:rPr lang="en-US" sz="2100">
                <a:solidFill>
                  <a:schemeClr val="tx1"/>
                </a:solidFill>
              </a:rPr>
              <a:t> without relying on signatures or machine learning methods.</a:t>
            </a:r>
          </a:p>
          <a:p>
            <a:pPr marL="285750" indent="-285750" algn="just">
              <a:spcBef>
                <a:spcPts val="0"/>
              </a:spcBef>
              <a:buFont typeface="Arial,Sans-Serif"/>
              <a:buChar char="•"/>
            </a:pPr>
            <a:r>
              <a:rPr lang="en-US" sz="2100" b="1">
                <a:solidFill>
                  <a:schemeClr val="bg2">
                    <a:lumMod val="60000"/>
                    <a:lumOff val="40000"/>
                  </a:schemeClr>
                </a:solidFill>
              </a:rPr>
              <a:t>Conclusion:</a:t>
            </a:r>
            <a:endParaRPr lang="en-US" sz="210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285750" indent="-285750" algn="just">
              <a:spcBef>
                <a:spcPts val="0"/>
              </a:spcBef>
              <a:buFont typeface="Arial,Sans-Serif"/>
              <a:buChar char="•"/>
            </a:pPr>
            <a:r>
              <a:rPr lang="en-US" sz="2100" b="1">
                <a:solidFill>
                  <a:schemeClr val="tx1"/>
                </a:solidFill>
              </a:rPr>
              <a:t>Pareto analysis alone</a:t>
            </a:r>
            <a:r>
              <a:rPr lang="en-US" sz="2100">
                <a:solidFill>
                  <a:schemeClr val="tx1"/>
                </a:solidFill>
              </a:rPr>
              <a:t> effectively detected anomalies in both CPU and memory usage.</a:t>
            </a:r>
          </a:p>
          <a:p>
            <a:pPr marL="285750" indent="-285750" algn="just">
              <a:spcBef>
                <a:spcPts val="0"/>
              </a:spcBef>
              <a:buFont typeface="Arial,Sans-Serif"/>
              <a:buChar char="•"/>
            </a:pPr>
            <a:r>
              <a:rPr lang="en-US" sz="2100">
                <a:solidFill>
                  <a:schemeClr val="tx1"/>
                </a:solidFill>
              </a:rPr>
              <a:t>It is </a:t>
            </a:r>
            <a:r>
              <a:rPr lang="en-US" sz="2100" b="1">
                <a:solidFill>
                  <a:schemeClr val="tx1"/>
                </a:solidFill>
              </a:rPr>
              <a:t>lightweight, explainable, and easy to interpret</a:t>
            </a:r>
            <a:r>
              <a:rPr lang="en-US" sz="2100">
                <a:solidFill>
                  <a:schemeClr val="tx1"/>
                </a:solidFill>
              </a:rPr>
              <a:t>, making it ideal for </a:t>
            </a:r>
            <a:r>
              <a:rPr lang="en-US" sz="2100" b="1">
                <a:solidFill>
                  <a:schemeClr val="tx1"/>
                </a:solidFill>
              </a:rPr>
              <a:t>SOC analysts</a:t>
            </a:r>
            <a:r>
              <a:rPr lang="en-US" sz="2100">
                <a:solidFill>
                  <a:schemeClr val="tx1"/>
                </a:solidFill>
              </a:rPr>
              <a:t> to identify early warning signs of abnormal system activity.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FFF00D-81D5-5183-D21B-EA2C952B9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750" y="2063750"/>
            <a:ext cx="6715125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1126CB-2D60-4678-B1D6-9CF3F9283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338" y="4351338"/>
            <a:ext cx="7791450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2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738EC2-6201-2DC6-59F0-0290DBFFB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770" y="684695"/>
            <a:ext cx="10593510" cy="601862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975E71F-E966-40A1-9FE1-1457EAC1B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408" y="-966"/>
            <a:ext cx="10422835" cy="685939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002D72"/>
                </a:solidFill>
                <a:latin typeface="Merriweather"/>
              </a:rPr>
              <a:t>Summary of Result (Windows 10)</a:t>
            </a:r>
            <a:endParaRPr lang="en-US" sz="2800">
              <a:latin typeface="Merriweather"/>
            </a:endParaRPr>
          </a:p>
        </p:txBody>
      </p:sp>
    </p:spTree>
    <p:extLst>
      <p:ext uri="{BB962C8B-B14F-4D97-AF65-F5344CB8AC3E}">
        <p14:creationId xmlns:p14="http://schemas.microsoft.com/office/powerpoint/2010/main" val="3981913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>
          <a:extLst>
            <a:ext uri="{FF2B5EF4-FFF2-40B4-BE49-F238E27FC236}">
              <a16:creationId xmlns:a16="http://schemas.microsoft.com/office/drawing/2014/main" id="{762216E3-921E-C3F7-665E-9C1F7741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>
            <a:extLst>
              <a:ext uri="{FF2B5EF4-FFF2-40B4-BE49-F238E27FC236}">
                <a16:creationId xmlns:a16="http://schemas.microsoft.com/office/drawing/2014/main" id="{10304EE4-7597-60C8-BA8A-52C2CCF554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7" y="-22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>
            <a:extLst>
              <a:ext uri="{FF2B5EF4-FFF2-40B4-BE49-F238E27FC236}">
                <a16:creationId xmlns:a16="http://schemas.microsoft.com/office/drawing/2014/main" id="{DF76DFD0-61F2-C350-9782-9D96FB3182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40" r="-172" b="-940"/>
          <a:stretch>
            <a:fillRect/>
          </a:stretch>
        </p:blipFill>
        <p:spPr>
          <a:xfrm>
            <a:off x="571500" y="1433512"/>
            <a:ext cx="5295462" cy="482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>
            <a:extLst>
              <a:ext uri="{FF2B5EF4-FFF2-40B4-BE49-F238E27FC236}">
                <a16:creationId xmlns:a16="http://schemas.microsoft.com/office/drawing/2014/main" id="{68F6839E-8AB4-1CE8-53B2-1A93BD8A04E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433512"/>
            <a:ext cx="5286375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>
            <a:extLst>
              <a:ext uri="{FF2B5EF4-FFF2-40B4-BE49-F238E27FC236}">
                <a16:creationId xmlns:a16="http://schemas.microsoft.com/office/drawing/2014/main" id="{E3883B04-2D76-A564-EBB4-0CD307F76016}"/>
              </a:ext>
            </a:extLst>
          </p:cNvPr>
          <p:cNvSpPr txBox="1"/>
          <p:nvPr/>
        </p:nvSpPr>
        <p:spPr>
          <a:xfrm>
            <a:off x="962025" y="1824037"/>
            <a:ext cx="473059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Anomaly (CPU/Memory)</a:t>
            </a:r>
            <a:endParaRPr/>
          </a:p>
        </p:txBody>
      </p:sp>
      <p:sp>
        <p:nvSpPr>
          <p:cNvPr id="223" name="Google Shape;223;p22">
            <a:extLst>
              <a:ext uri="{FF2B5EF4-FFF2-40B4-BE49-F238E27FC236}">
                <a16:creationId xmlns:a16="http://schemas.microsoft.com/office/drawing/2014/main" id="{4D6D6B61-90D2-49E7-B8A3-8C342B6EF7EB}"/>
              </a:ext>
            </a:extLst>
          </p:cNvPr>
          <p:cNvSpPr txBox="1"/>
          <p:nvPr/>
        </p:nvSpPr>
        <p:spPr>
          <a:xfrm>
            <a:off x="962025" y="2374673"/>
            <a:ext cx="450532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system-level anomaly was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immediate and obvious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24" name="Google Shape;224;p22">
            <a:extLst>
              <a:ext uri="{FF2B5EF4-FFF2-40B4-BE49-F238E27FC236}">
                <a16:creationId xmlns:a16="http://schemas.microsoft.com/office/drawing/2014/main" id="{2C514A56-5D97-164A-65AB-8F0D4A3044E0}"/>
              </a:ext>
            </a:extLst>
          </p:cNvPr>
          <p:cNvSpPr txBox="1"/>
          <p:nvPr/>
        </p:nvSpPr>
        <p:spPr>
          <a:xfrm>
            <a:off x="6724650" y="1824037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Network Anomaly (Packets)</a:t>
            </a:r>
            <a:endParaRPr/>
          </a:p>
        </p:txBody>
      </p:sp>
      <p:pic>
        <p:nvPicPr>
          <p:cNvPr id="226" name="Google Shape;226;p22" descr="image.png">
            <a:extLst>
              <a:ext uri="{FF2B5EF4-FFF2-40B4-BE49-F238E27FC236}">
                <a16:creationId xmlns:a16="http://schemas.microsoft.com/office/drawing/2014/main" id="{D20C9507-B088-8017-D5A7-D28C9F6B98A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4811" y="182585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>
            <a:extLst>
              <a:ext uri="{FF2B5EF4-FFF2-40B4-BE49-F238E27FC236}">
                <a16:creationId xmlns:a16="http://schemas.microsoft.com/office/drawing/2014/main" id="{9D1E9396-DD56-CE44-FC6C-647BFB8A7CC6}"/>
              </a:ext>
            </a:extLst>
          </p:cNvPr>
          <p:cNvSpPr txBox="1"/>
          <p:nvPr/>
        </p:nvSpPr>
        <p:spPr>
          <a:xfrm>
            <a:off x="1274989" y="3512230"/>
            <a:ext cx="421957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CPU Usage</a:t>
            </a:r>
            <a:r>
              <a:rPr lang="en-US" sz="16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oppins"/>
                <a:ea typeface="DM Sans"/>
                <a:cs typeface="DM Sans"/>
                <a:sym typeface="DM Sans"/>
              </a:rPr>
              <a:t> </a:t>
            </a:r>
            <a:r>
              <a:rPr lang="en-US" sz="1200" b="1" err="1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EasyMiner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 consistently dominates CPU usage across all users and time windows 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(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≥90%)</a:t>
            </a:r>
            <a:endParaRPr lang="en-US" sz="1200">
              <a:latin typeface="Poppins"/>
            </a:endParaRPr>
          </a:p>
        </p:txBody>
      </p:sp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9BF42E64-F1EB-1698-A548-DE1E12264CAE}"/>
              </a:ext>
            </a:extLst>
          </p:cNvPr>
          <p:cNvSpPr txBox="1"/>
          <p:nvPr/>
        </p:nvSpPr>
        <p:spPr>
          <a:xfrm>
            <a:off x="1274989" y="4283755"/>
            <a:ext cx="4219575" cy="657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Memory Usage</a:t>
            </a:r>
            <a:r>
              <a:rPr lang="en-US" sz="16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 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Memory usage remains </a:t>
            </a:r>
            <a:r>
              <a:rPr lang="en-US" sz="1200" b="1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consistently around 80–82%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 across all scenarios</a:t>
            </a:r>
            <a:endParaRPr lang="en-US" sz="1200">
              <a:solidFill>
                <a:srgbClr val="334155"/>
              </a:solidFill>
              <a:latin typeface="Poppins"/>
            </a:endParaRPr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D5FC9517-64B1-F7B1-D44F-4DF39BE29F11}"/>
              </a:ext>
            </a:extLst>
          </p:cNvPr>
          <p:cNvSpPr txBox="1"/>
          <p:nvPr/>
        </p:nvSpPr>
        <p:spPr>
          <a:xfrm>
            <a:off x="1247775" y="5018995"/>
            <a:ext cx="4655003" cy="1248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1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CPU usage patterns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 effectively differentiate between normal and anomalous behavior, whereas </a:t>
            </a:r>
            <a:r>
              <a:rPr lang="en-US" sz="1200" b="1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memory usage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 shows limited variability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, 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making it less reliable for anomaly detection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.</a:t>
            </a:r>
            <a:endParaRPr lang="en-US" sz="1200">
              <a:latin typeface="Poppins"/>
            </a:endParaRPr>
          </a:p>
        </p:txBody>
      </p:sp>
      <p:pic>
        <p:nvPicPr>
          <p:cNvPr id="230" name="Google Shape;230;p22" descr="image.png">
            <a:extLst>
              <a:ext uri="{FF2B5EF4-FFF2-40B4-BE49-F238E27FC236}">
                <a16:creationId xmlns:a16="http://schemas.microsoft.com/office/drawing/2014/main" id="{DB807CA3-E19B-197D-A120-1B784FECFBC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18621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5F974F71-D38E-2DEE-419E-ADC9CC2DD53C}"/>
              </a:ext>
            </a:extLst>
          </p:cNvPr>
          <p:cNvSpPr txBox="1"/>
          <p:nvPr/>
        </p:nvSpPr>
        <p:spPr>
          <a:xfrm>
            <a:off x="7010400" y="3214687"/>
            <a:ext cx="4219575" cy="121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rgbClr val="334155"/>
                </a:solidFill>
                <a:latin typeface="DM Sans"/>
                <a:sym typeface="DM Sans"/>
              </a:rPr>
              <a:t>IPv4: </a:t>
            </a:r>
            <a:r>
              <a:rPr lang="en-US" sz="1200">
                <a:solidFill>
                  <a:srgbClr val="334155"/>
                </a:solidFill>
                <a:latin typeface="Poppins"/>
                <a:sym typeface="DM Sans"/>
              </a:rPr>
              <a:t>Concentration is scenario-dependent—</a:t>
            </a:r>
            <a:r>
              <a:rPr lang="en-US" sz="1200" b="1">
                <a:solidFill>
                  <a:srgbClr val="334155"/>
                </a:solidFill>
                <a:latin typeface="Poppins"/>
                <a:sym typeface="DM Sans"/>
              </a:rPr>
              <a:t>XAMPP + exploit</a:t>
            </a:r>
            <a:r>
              <a:rPr lang="en-US" sz="1200">
                <a:solidFill>
                  <a:srgbClr val="334155"/>
                </a:solidFill>
                <a:latin typeface="Poppins"/>
                <a:sym typeface="DM Sans"/>
              </a:rPr>
              <a:t> setups reach </a:t>
            </a:r>
            <a:r>
              <a:rPr lang="en-US" sz="1200" b="1">
                <a:solidFill>
                  <a:srgbClr val="334155"/>
                </a:solidFill>
                <a:latin typeface="Poppins"/>
                <a:sym typeface="DM Sans"/>
              </a:rPr>
              <a:t>98–100%</a:t>
            </a:r>
            <a:r>
              <a:rPr lang="en-US" sz="1200">
                <a:solidFill>
                  <a:srgbClr val="334155"/>
                </a:solidFill>
                <a:latin typeface="Poppins"/>
                <a:sym typeface="DM Sans"/>
              </a:rPr>
              <a:t>, while </a:t>
            </a:r>
            <a:r>
              <a:rPr lang="en-US" sz="1200" b="1">
                <a:solidFill>
                  <a:srgbClr val="334155"/>
                </a:solidFill>
                <a:latin typeface="Poppins"/>
                <a:sym typeface="DM Sans"/>
              </a:rPr>
              <a:t>single-app workloads</a:t>
            </a:r>
            <a:r>
              <a:rPr lang="en-US" sz="1200">
                <a:solidFill>
                  <a:srgbClr val="334155"/>
                </a:solidFill>
                <a:latin typeface="Poppins"/>
                <a:sym typeface="DM Sans"/>
              </a:rPr>
              <a:t> are generally above </a:t>
            </a:r>
            <a:r>
              <a:rPr lang="en-US" sz="1200" b="1">
                <a:solidFill>
                  <a:srgbClr val="334155"/>
                </a:solidFill>
                <a:latin typeface="Poppins"/>
                <a:sym typeface="DM Sans"/>
              </a:rPr>
              <a:t>80%</a:t>
            </a:r>
            <a:r>
              <a:rPr lang="en-US" sz="1200">
                <a:solidFill>
                  <a:srgbClr val="334155"/>
                </a:solidFill>
                <a:latin typeface="Poppins"/>
                <a:sym typeface="DM Sans"/>
              </a:rPr>
              <a:t> with occasional dips.</a:t>
            </a:r>
            <a:endParaRPr lang="en-US" sz="1200">
              <a:solidFill>
                <a:srgbClr val="334155"/>
              </a:solidFill>
              <a:latin typeface="Poppins"/>
            </a:endParaRPr>
          </a:p>
        </p:txBody>
      </p:sp>
      <p:sp>
        <p:nvSpPr>
          <p:cNvPr id="233" name="Google Shape;233;p22">
            <a:extLst>
              <a:ext uri="{FF2B5EF4-FFF2-40B4-BE49-F238E27FC236}">
                <a16:creationId xmlns:a16="http://schemas.microsoft.com/office/drawing/2014/main" id="{5F0824A0-6327-1CC9-99E3-6FDDD6B1E666}"/>
              </a:ext>
            </a:extLst>
          </p:cNvPr>
          <p:cNvSpPr txBox="1"/>
          <p:nvPr/>
        </p:nvSpPr>
        <p:spPr>
          <a:xfrm>
            <a:off x="7010400" y="4443412"/>
            <a:ext cx="4219575" cy="1211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Resource Impact: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1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Exploits significantly increase IPv4 and CPU concentration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, especially when combined with </a:t>
            </a:r>
            <a:r>
              <a:rPr lang="en-US" sz="1200" err="1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EasyMiner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, while </a:t>
            </a:r>
            <a:r>
              <a:rPr lang="en-US" sz="1200" b="1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memory usage remains stable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 around </a:t>
            </a:r>
            <a:r>
              <a:rPr lang="en-US" sz="1200" b="1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80–82%</a:t>
            </a:r>
            <a:r>
              <a:rPr lang="en-US" sz="1200">
                <a:solidFill>
                  <a:srgbClr val="334155"/>
                </a:solidFill>
                <a:latin typeface="Poppins"/>
                <a:ea typeface="DM Sans"/>
                <a:sym typeface="DM Sans"/>
              </a:rPr>
              <a:t> across all scenarios.</a:t>
            </a:r>
            <a:endParaRPr lang="en-US" sz="1200">
              <a:solidFill>
                <a:srgbClr val="334155"/>
              </a:solidFill>
              <a:latin typeface="Poppins"/>
            </a:endParaRPr>
          </a:p>
        </p:txBody>
      </p:sp>
      <p:sp>
        <p:nvSpPr>
          <p:cNvPr id="235" name="Google Shape;235;p22">
            <a:extLst>
              <a:ext uri="{FF2B5EF4-FFF2-40B4-BE49-F238E27FC236}">
                <a16:creationId xmlns:a16="http://schemas.microsoft.com/office/drawing/2014/main" id="{5AACF8BB-EBAC-ED5C-4509-FA1BF3047AF7}"/>
              </a:ext>
            </a:extLst>
          </p:cNvPr>
          <p:cNvSpPr txBox="1"/>
          <p:nvPr/>
        </p:nvSpPr>
        <p:spPr>
          <a:xfrm>
            <a:off x="571500" y="4810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Windows </a:t>
            </a:r>
            <a:r>
              <a:rPr lang="en-US" sz="3600" b="1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11</a:t>
            </a:r>
            <a:endParaRPr/>
          </a:p>
        </p:txBody>
      </p:sp>
      <p:pic>
        <p:nvPicPr>
          <p:cNvPr id="236" name="Google Shape;236;p22" descr="image.png">
            <a:extLst>
              <a:ext uri="{FF2B5EF4-FFF2-40B4-BE49-F238E27FC236}">
                <a16:creationId xmlns:a16="http://schemas.microsoft.com/office/drawing/2014/main" id="{4F1063CF-690C-AFDF-F32E-E3C926F62EC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9239" y="355985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>
            <a:extLst>
              <a:ext uri="{FF2B5EF4-FFF2-40B4-BE49-F238E27FC236}">
                <a16:creationId xmlns:a16="http://schemas.microsoft.com/office/drawing/2014/main" id="{D3C8CDF1-36FA-D40B-7D43-DE24425CD63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9239" y="43313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>
            <a:extLst>
              <a:ext uri="{FF2B5EF4-FFF2-40B4-BE49-F238E27FC236}">
                <a16:creationId xmlns:a16="http://schemas.microsoft.com/office/drawing/2014/main" id="{A9C294E1-07D6-E721-C05A-F80A1D12A7A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89239" y="510290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>
            <a:extLst>
              <a:ext uri="{FF2B5EF4-FFF2-40B4-BE49-F238E27FC236}">
                <a16:creationId xmlns:a16="http://schemas.microsoft.com/office/drawing/2014/main" id="{C7D4A324-0285-6541-D151-E5B66F1483B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32623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>
            <a:extLst>
              <a:ext uri="{FF2B5EF4-FFF2-40B4-BE49-F238E27FC236}">
                <a16:creationId xmlns:a16="http://schemas.microsoft.com/office/drawing/2014/main" id="{8A0B6CB5-332D-E55B-CF34-2BC1D13A310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4491037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736AF8-093E-8BA8-D960-914271EEB9D0}"/>
              </a:ext>
            </a:extLst>
          </p:cNvPr>
          <p:cNvSpPr txBox="1"/>
          <p:nvPr/>
        </p:nvSpPr>
        <p:spPr>
          <a:xfrm>
            <a:off x="6831807" y="2377668"/>
            <a:ext cx="410922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2060"/>
                </a:solidFill>
                <a:latin typeface="Poppins"/>
              </a:rPr>
              <a:t>Network anomaly was </a:t>
            </a:r>
            <a:r>
              <a:rPr lang="en-US" sz="1600" b="1">
                <a:solidFill>
                  <a:srgbClr val="002060"/>
                </a:solidFill>
                <a:latin typeface="Poppins"/>
              </a:rPr>
              <a:t>immediate and obvious.</a:t>
            </a:r>
          </a:p>
        </p:txBody>
      </p:sp>
    </p:spTree>
    <p:extLst>
      <p:ext uri="{BB962C8B-B14F-4D97-AF65-F5344CB8AC3E}">
        <p14:creationId xmlns:p14="http://schemas.microsoft.com/office/powerpoint/2010/main" val="232326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CA502-DB7B-BF2E-42EE-8B54EC6443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498" y="655782"/>
            <a:ext cx="10180846" cy="808915"/>
          </a:xfrm>
        </p:spPr>
        <p:txBody>
          <a:bodyPr anchor="t">
            <a:normAutofit/>
          </a:bodyPr>
          <a:lstStyle/>
          <a:p>
            <a:r>
              <a:rPr lang="en-US" sz="3600" b="1">
                <a:solidFill>
                  <a:srgbClr val="002D72"/>
                </a:solidFill>
                <a:latin typeface="Merriweather"/>
              </a:rPr>
              <a:t>Summary of Result (Windows 11)</a:t>
            </a:r>
            <a:endParaRPr lang="en-US" sz="3600" b="1">
              <a:latin typeface="Merriweather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607928-5029-AF74-B84E-6610F26AED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3" t="-939" r="-1994" b="404"/>
          <a:stretch>
            <a:fillRect/>
          </a:stretch>
        </p:blipFill>
        <p:spPr>
          <a:xfrm>
            <a:off x="190581" y="4264268"/>
            <a:ext cx="6003857" cy="1967130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5B4076-7939-47DA-4107-5211D404B7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03" t="-530" r="-152"/>
          <a:stretch>
            <a:fillRect/>
          </a:stretch>
        </p:blipFill>
        <p:spPr>
          <a:xfrm>
            <a:off x="6096081" y="4265633"/>
            <a:ext cx="5962564" cy="195793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8DC5B5-91C7-4C2B-D979-C6D2144069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4" b="-628"/>
          <a:stretch>
            <a:fillRect/>
          </a:stretch>
        </p:blipFill>
        <p:spPr>
          <a:xfrm>
            <a:off x="6077857" y="2304840"/>
            <a:ext cx="5895179" cy="195993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3104A6-ECEE-E453-6160-A7CB35339C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364" t="821" r="656" b="-930"/>
          <a:stretch>
            <a:fillRect/>
          </a:stretch>
        </p:blipFill>
        <p:spPr>
          <a:xfrm>
            <a:off x="-9072" y="2313548"/>
            <a:ext cx="6091144" cy="194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6802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377" y="431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704"/>
            <a:ext cx="5286375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1495" y="1464827"/>
            <a:ext cx="5286375" cy="49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962025" y="1824037"/>
            <a:ext cx="473059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Anomaly (CPU/Memory)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962025" y="2374921"/>
            <a:ext cx="450532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system-level anomaly was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immediate and obvious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24650" y="1824037"/>
            <a:ext cx="47305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Network Anomaly (Packets)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724650" y="2376487"/>
            <a:ext cx="45053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network anomaly was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delayed and scaled with load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id="226" name="Google Shape;22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18621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1164268" y="3338381"/>
            <a:ext cx="4219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CPU Usage (1 User, 5 min):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Jumped from 77% (Baseline) to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97%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(Attack).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164268" y="4109906"/>
            <a:ext cx="4219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Memory Usage (1 User, 5 min):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Increased from 62% to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67%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164268" y="4881431"/>
            <a:ext cx="4219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exploit created an instant, high-resource process.</a:t>
            </a:r>
            <a:endParaRPr/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18621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010400" y="3214687"/>
            <a:ext cx="42195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 User: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No change.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999962" y="3640572"/>
            <a:ext cx="4376149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 Users (10 min):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Showed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+11%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deviation.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7010400" y="4109385"/>
            <a:ext cx="425089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 Users (15 min):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Showed a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+14%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deviation.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999961" y="4484253"/>
            <a:ext cx="447009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Finding: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anomaly was only visible on the network with more users and time.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71500" y="4810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Results: Windows Server 2019</a:t>
            </a:r>
            <a:endParaRPr/>
          </a:p>
        </p:txBody>
      </p:sp>
      <p:pic>
        <p:nvPicPr>
          <p:cNvPr id="236" name="Google Shape;23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8518" y="338600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8518" y="415753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8518" y="492905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32623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37195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419876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24650" y="462582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76C5-7B62-6889-2CE7-A429A2CEB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164"/>
            <a:ext cx="7772400" cy="1470025"/>
          </a:xfrm>
        </p:spPr>
        <p:txBody>
          <a:bodyPr/>
          <a:lstStyle/>
          <a:p>
            <a:r>
              <a:rPr lang="en-US" sz="3600" b="1" dirty="0">
                <a:solidFill>
                  <a:srgbClr val="002D72"/>
                </a:solidFill>
                <a:latin typeface="Merriweather"/>
              </a:rPr>
              <a:t>Results: Windows Server 2019 Network</a:t>
            </a:r>
            <a:endParaRPr lang="en-US"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4F92BE9-ABB9-6072-5748-F0E0A6207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145" y="1716571"/>
            <a:ext cx="5516493" cy="4385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C98564-B704-2B85-5CFD-C6DED4EA7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40" y="2171838"/>
            <a:ext cx="547687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11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7E87-0FFB-6D61-0DF1-909C8176D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374512"/>
            <a:ext cx="7772400" cy="1470025"/>
          </a:xfrm>
        </p:spPr>
        <p:txBody>
          <a:bodyPr/>
          <a:lstStyle/>
          <a:p>
            <a:r>
              <a:rPr lang="en-US" sz="3600" b="1" dirty="0">
                <a:solidFill>
                  <a:srgbClr val="002D72"/>
                </a:solidFill>
                <a:latin typeface="Merriweather"/>
              </a:rPr>
              <a:t>Results: Windows Server 2019 System Process</a:t>
            </a:r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DFC272-4D05-1615-A800-B29D6C65A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703665"/>
            <a:ext cx="5524500" cy="3373368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875EEE-A14D-1F92-5DC5-9E762BF0F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014" y="1847228"/>
            <a:ext cx="5372929" cy="26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91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71500" y="1824037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Team Roles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459581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Key Challenge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571500" y="514826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VM slowdowns and network "noise" required careful filtering and resource management.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57250" y="2309812"/>
            <a:ext cx="500062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MingYong</a:t>
            </a: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Windows 11 </a:t>
            </a:r>
            <a:endParaRPr dirty="0"/>
          </a:p>
        </p:txBody>
      </p:sp>
      <p:sp>
        <p:nvSpPr>
          <p:cNvPr id="252" name="Google Shape;252;p23"/>
          <p:cNvSpPr txBox="1"/>
          <p:nvPr/>
        </p:nvSpPr>
        <p:spPr>
          <a:xfrm>
            <a:off x="857250" y="2767012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Anuj: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Windows Server 2019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857250" y="3224212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Abdul: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Windows 10 (Crypto, Backdoor)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857250" y="3681412"/>
            <a:ext cx="500062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5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Diwash: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Windows 10 (</a:t>
            </a:r>
            <a:r>
              <a:rPr lang="en-US" sz="165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Network)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795467" y="4169503"/>
            <a:ext cx="7523462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5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Samrat: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7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Windows 10 (System) 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Project Management &amp; Editing</a:t>
            </a:r>
            <a:endParaRPr dirty="0"/>
          </a:p>
        </p:txBody>
      </p:sp>
      <p:sp>
        <p:nvSpPr>
          <p:cNvPr id="256" name="Google Shape;25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Management</a:t>
            </a:r>
            <a:endParaRPr/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74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4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718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290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583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screenshot of a graph">
            <a:extLst>
              <a:ext uri="{FF2B5EF4-FFF2-40B4-BE49-F238E27FC236}">
                <a16:creationId xmlns:a16="http://schemas.microsoft.com/office/drawing/2014/main" id="{C49B2BAC-0540-2F95-7AD9-8D22797F6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426" y="1646583"/>
            <a:ext cx="6991627" cy="2648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892278" y="752706"/>
            <a:ext cx="8398422" cy="819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276"/>
              </a:lnSpc>
            </a:pPr>
            <a:r>
              <a:rPr lang="en-US" sz="6000" b="1">
                <a:solidFill>
                  <a:srgbClr val="002D72"/>
                </a:solidFill>
                <a:latin typeface="Poppins Bold"/>
                <a:ea typeface="Poppins Bold"/>
                <a:cs typeface="Poppins Bold"/>
                <a:sym typeface="Poppins Bold"/>
              </a:rPr>
              <a:t>The Future of Project </a:t>
            </a:r>
            <a:endParaRPr lang="en-US" sz="6000" b="1">
              <a:solidFill>
                <a:srgbClr val="002D72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09317" y="2002349"/>
            <a:ext cx="7285633" cy="3547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0500" indent="-190500">
              <a:buFont typeface="Arial"/>
              <a:buChar char="•"/>
            </a:pPr>
            <a:r>
              <a:rPr lang="en-US" sz="2100">
                <a:solidFill>
                  <a:srgbClr val="002D72"/>
                </a:solidFill>
                <a:latin typeface="DM Sans"/>
                <a:ea typeface="+mn-lt"/>
                <a:cs typeface="+mn-lt"/>
                <a:sym typeface="Poppins"/>
              </a:rPr>
              <a:t> Integrate Pareto analysis with AI for automated anomaly detection</a:t>
            </a:r>
            <a:endParaRPr lang="en-US" sz="2100">
              <a:solidFill>
                <a:srgbClr val="002D72"/>
              </a:solidFill>
              <a:latin typeface="DM Sans"/>
              <a:ea typeface="Calibri"/>
              <a:cs typeface="Calibri"/>
            </a:endParaRPr>
          </a:p>
          <a:p>
            <a:pPr marL="190500" indent="-190500">
              <a:buFont typeface="Arial"/>
              <a:buChar char="•"/>
            </a:pPr>
            <a:endParaRPr lang="en-US" sz="2100">
              <a:solidFill>
                <a:srgbClr val="002D72"/>
              </a:solidFill>
              <a:latin typeface="DM Sans"/>
              <a:ea typeface="+mn-lt"/>
              <a:cs typeface="+mn-lt"/>
            </a:endParaRPr>
          </a:p>
          <a:p>
            <a:pPr marL="190500" indent="-190500">
              <a:buFont typeface="Arial"/>
              <a:buChar char="•"/>
            </a:pPr>
            <a:r>
              <a:rPr lang="en-US" sz="2100">
                <a:solidFill>
                  <a:srgbClr val="002D72"/>
                </a:solidFill>
                <a:latin typeface="DM Sans"/>
                <a:ea typeface="+mn-lt"/>
                <a:cs typeface="+mn-lt"/>
                <a:sym typeface="Poppins"/>
              </a:rPr>
              <a:t> Apply Pareto’s Law to large-scale cloud and IoT systems</a:t>
            </a:r>
            <a:endParaRPr lang="en-US" sz="2100">
              <a:solidFill>
                <a:srgbClr val="002D72"/>
              </a:solidFill>
              <a:latin typeface="DM Sans"/>
              <a:ea typeface="Calibri"/>
              <a:cs typeface="Calibri"/>
            </a:endParaRPr>
          </a:p>
          <a:p>
            <a:pPr marL="190500" indent="-190500">
              <a:buFont typeface="Arial"/>
              <a:buChar char="•"/>
            </a:pPr>
            <a:endParaRPr lang="en-US" sz="2100">
              <a:solidFill>
                <a:srgbClr val="002D72"/>
              </a:solidFill>
              <a:latin typeface="DM Sans"/>
              <a:ea typeface="+mn-lt"/>
              <a:cs typeface="+mn-lt"/>
            </a:endParaRPr>
          </a:p>
          <a:p>
            <a:pPr marL="190500" indent="-190500">
              <a:buFont typeface="Arial"/>
              <a:buChar char="•"/>
            </a:pPr>
            <a:r>
              <a:rPr lang="en-US" sz="2100">
                <a:solidFill>
                  <a:srgbClr val="002D72"/>
                </a:solidFill>
                <a:latin typeface="DM Sans"/>
                <a:ea typeface="+mn-lt"/>
                <a:cs typeface="+mn-lt"/>
                <a:sym typeface="Poppins"/>
              </a:rPr>
              <a:t>️ Enhance cybersecurity monitoring by prioritizing high-impact threats</a:t>
            </a:r>
            <a:endParaRPr lang="en-US" sz="2100">
              <a:solidFill>
                <a:srgbClr val="002D72"/>
              </a:solidFill>
              <a:latin typeface="DM Sans"/>
              <a:ea typeface="Calibri"/>
              <a:cs typeface="Calibri"/>
            </a:endParaRPr>
          </a:p>
          <a:p>
            <a:pPr marL="190500" indent="-190500">
              <a:buFont typeface="Arial"/>
              <a:buChar char="•"/>
            </a:pPr>
            <a:endParaRPr lang="en-US" sz="2100">
              <a:solidFill>
                <a:srgbClr val="002D72"/>
              </a:solidFill>
              <a:latin typeface="DM Sans"/>
              <a:ea typeface="+mn-lt"/>
              <a:cs typeface="+mn-lt"/>
            </a:endParaRPr>
          </a:p>
          <a:p>
            <a:pPr marL="190500" indent="-190500">
              <a:buFont typeface="Arial"/>
              <a:buChar char="•"/>
            </a:pPr>
            <a:r>
              <a:rPr lang="en-US" sz="2100">
                <a:solidFill>
                  <a:srgbClr val="002D72"/>
                </a:solidFill>
                <a:latin typeface="DM Sans"/>
                <a:ea typeface="+mn-lt"/>
                <a:cs typeface="+mn-lt"/>
                <a:sym typeface="Poppins"/>
              </a:rPr>
              <a:t> Real-time visualization of 80/20 trends for decision-making</a:t>
            </a:r>
            <a:endParaRPr lang="en-US" sz="2100">
              <a:solidFill>
                <a:srgbClr val="002D72"/>
              </a:solidFill>
              <a:latin typeface="DM Sans"/>
              <a:ea typeface="Calibri"/>
              <a:cs typeface="Calibri"/>
            </a:endParaRPr>
          </a:p>
          <a:p>
            <a:pPr>
              <a:lnSpc>
                <a:spcPts val="1960"/>
              </a:lnSpc>
              <a:spcBef>
                <a:spcPct val="0"/>
              </a:spcBef>
            </a:pPr>
            <a:endParaRPr lang="en-US" sz="2100">
              <a:solidFill>
                <a:srgbClr val="002D72"/>
              </a:solidFill>
              <a:latin typeface="DM Sans"/>
              <a:ea typeface="Poppins"/>
              <a:cs typeface="Poppins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5603951" y="-2065"/>
            <a:ext cx="6590545" cy="774400"/>
          </a:xfrm>
          <a:custGeom>
            <a:avLst/>
            <a:gdLst/>
            <a:ahLst/>
            <a:cxnLst/>
            <a:rect l="l" t="t" r="r" b="b"/>
            <a:pathLst>
              <a:path w="12370599" h="1799360">
                <a:moveTo>
                  <a:pt x="0" y="0"/>
                </a:moveTo>
                <a:lnTo>
                  <a:pt x="12370599" y="0"/>
                </a:lnTo>
                <a:lnTo>
                  <a:pt x="12370599" y="1799360"/>
                </a:lnTo>
                <a:lnTo>
                  <a:pt x="0" y="179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386006" y="2002503"/>
            <a:ext cx="2522901" cy="444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307"/>
              </a:lnSpc>
            </a:pPr>
            <a:r>
              <a:rPr lang="en-US" sz="6400">
                <a:solidFill>
                  <a:srgbClr val="FFFFFF"/>
                </a:solidFill>
                <a:ea typeface="+mn-lt"/>
                <a:cs typeface="+mn-lt"/>
                <a:sym typeface="Poppins Bold"/>
              </a:rPr>
              <a:t>🧠</a:t>
            </a:r>
            <a:endParaRPr lang="en-US" sz="6400" b="1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72202E9A-0C15-3C9F-63C0-AE2A6E6EB73C}"/>
              </a:ext>
            </a:extLst>
          </p:cNvPr>
          <p:cNvSpPr txBox="1"/>
          <p:nvPr/>
        </p:nvSpPr>
        <p:spPr>
          <a:xfrm>
            <a:off x="8213988" y="2897024"/>
            <a:ext cx="2522901" cy="444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307"/>
              </a:lnSpc>
            </a:pPr>
            <a:r>
              <a:rPr lang="en-US" sz="6400">
                <a:solidFill>
                  <a:srgbClr val="FFFFFF"/>
                </a:solidFill>
                <a:ea typeface="+mn-lt"/>
                <a:cs typeface="+mn-lt"/>
                <a:sym typeface="Poppins Bold"/>
              </a:rPr>
              <a:t>☁️</a:t>
            </a:r>
            <a:endParaRPr lang="en-US" sz="6400" b="1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F5961333-F8B2-A4A7-F77D-0BB74059C7C1}"/>
              </a:ext>
            </a:extLst>
          </p:cNvPr>
          <p:cNvSpPr txBox="1"/>
          <p:nvPr/>
        </p:nvSpPr>
        <p:spPr>
          <a:xfrm>
            <a:off x="9668022" y="3776834"/>
            <a:ext cx="2522901" cy="444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307"/>
              </a:lnSpc>
            </a:pPr>
            <a:r>
              <a:rPr lang="en-US" sz="6400">
                <a:solidFill>
                  <a:srgbClr val="FFFFFF"/>
                </a:solidFill>
                <a:ea typeface="+mn-lt"/>
                <a:cs typeface="+mn-lt"/>
                <a:sym typeface="Poppins Bold"/>
              </a:rPr>
              <a:t>🛡️</a:t>
            </a:r>
            <a:endParaRPr lang="en-US" sz="6400" b="1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27155EBC-71A3-D35B-CB9B-C8CA26B2A5B5}"/>
              </a:ext>
            </a:extLst>
          </p:cNvPr>
          <p:cNvSpPr txBox="1"/>
          <p:nvPr/>
        </p:nvSpPr>
        <p:spPr>
          <a:xfrm>
            <a:off x="8213988" y="4788794"/>
            <a:ext cx="2522901" cy="444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307"/>
              </a:lnSpc>
            </a:pPr>
            <a:r>
              <a:rPr lang="en-US" sz="6400">
                <a:solidFill>
                  <a:srgbClr val="FFFFFF"/>
                </a:solidFill>
                <a:ea typeface="+mn-lt"/>
                <a:cs typeface="+mn-lt"/>
                <a:sym typeface="Poppins Bold"/>
              </a:rPr>
              <a:t>📊</a:t>
            </a:r>
            <a:endParaRPr lang="en-US" sz="6400" b="1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</p:spTree>
    <p:extLst>
      <p:ext uri="{BB962C8B-B14F-4D97-AF65-F5344CB8AC3E}">
        <p14:creationId xmlns:p14="http://schemas.microsoft.com/office/powerpoint/2010/main" val="5913938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2238375" y="2152650"/>
            <a:ext cx="8143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Pareto's Law is a </a:t>
            </a:r>
            <a:r>
              <a:rPr lang="en-US" sz="1800" b="1" i="0" u="none" strike="noStrike" cap="none">
                <a:solidFill>
                  <a:srgbClr val="002D72"/>
                </a:solidFill>
                <a:latin typeface="DM Sans"/>
                <a:ea typeface="DM Sans"/>
                <a:cs typeface="DM Sans"/>
                <a:sym typeface="DM Sans"/>
              </a:rPr>
              <a:t>simple, reliable, and effective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way to detect significant system anomalies.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2238375" y="3076575"/>
            <a:ext cx="8143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-US" sz="1800" b="1" i="0" u="none" strike="noStrike" cap="none">
                <a:solidFill>
                  <a:srgbClr val="002D72"/>
                </a:solidFill>
                <a:latin typeface="DM Sans"/>
                <a:ea typeface="DM Sans"/>
                <a:cs typeface="DM Sans"/>
                <a:sym typeface="DM Sans"/>
              </a:rPr>
              <a:t>deviation from the baseline</a:t>
            </a: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is the alert, and it's easy to measure.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2238375" y="3676650"/>
            <a:ext cx="8143875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This method is:</a:t>
            </a:r>
            <a:endParaRPr/>
          </a:p>
        </p:txBody>
      </p:sp>
      <p:pic>
        <p:nvPicPr>
          <p:cNvPr id="270" name="Google Shape;27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200275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124200"/>
            <a:ext cx="2476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7052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2857500" y="4000500"/>
            <a:ext cx="7524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Simpler &amp; cheaper than ML.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2857500" y="4552950"/>
            <a:ext cx="7524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Transparent (not a "black box").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2857500" y="5105400"/>
            <a:ext cx="7524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practical way to reduce "Alert Fatigue".</a:t>
            </a:r>
            <a:endParaRPr/>
          </a:p>
        </p:txBody>
      </p:sp>
      <p:pic>
        <p:nvPicPr>
          <p:cNvPr id="276" name="Google Shape;276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28875" y="4048125"/>
            <a:ext cx="180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28875" y="4600575"/>
            <a:ext cx="3238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28875" y="515302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509716" y="11430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Conclusion: It Works</a:t>
            </a:r>
            <a:r>
              <a:rPr lang="en-US" sz="3600" b="1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 (Some Stages)</a:t>
            </a:r>
            <a:endParaRPr/>
          </a:p>
        </p:txBody>
      </p:sp>
    </p:spTree>
  </p:cSld>
  <p:clrMapOvr>
    <a:masterClrMapping/>
  </p:clrMapOvr>
  <p:transition spd="slow">
    <p:wheel spokes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295275" y="241458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2D72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571500" y="368141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Questions?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 Overview: Approach and Research Focus</vt:lpstr>
      <vt:lpstr>Topology &amp; Pipeline</vt:lpstr>
      <vt:lpstr>PowerPoint Presentation</vt:lpstr>
      <vt:lpstr>Python Script GUI application</vt:lpstr>
      <vt:lpstr>Sample of data cleanse and conversion Pareto compliance table </vt:lpstr>
      <vt:lpstr>PowerPoint Presentation</vt:lpstr>
      <vt:lpstr>PowerPoint Presentation</vt:lpstr>
      <vt:lpstr>Windows10 Analysis:</vt:lpstr>
      <vt:lpstr>Summary of Result (Windows 10)</vt:lpstr>
      <vt:lpstr>PowerPoint Presentation</vt:lpstr>
      <vt:lpstr>Summary of Result (Windows 11)</vt:lpstr>
      <vt:lpstr>PowerPoint Presentation</vt:lpstr>
      <vt:lpstr>Results: Windows Server 2019 Network</vt:lpstr>
      <vt:lpstr>Results: Windows Server 2019 System Process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39</cp:revision>
  <dcterms:modified xsi:type="dcterms:W3CDTF">2025-12-26T10:33:48Z</dcterms:modified>
</cp:coreProperties>
</file>